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CA" sz="1300" b="0" i="0" u="none" strike="noStrike">
                <a:solidFill>
                  <a:srgbClr val="1A2B4A"/>
                </a:solidFill>
                <a:latin typeface="Arial"/>
              </a:rPr>
              <a:t>Adult BMI Trend (Global Mean)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Mean BMI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2018</c:v>
                </c:pt>
                <c:pt idx="7">
                  <c:v>2020</c:v>
                </c:pt>
                <c:pt idx="8">
                  <c:v>2022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24.8</c:v>
                </c:pt>
                <c:pt idx="2">
                  <c:v>24.3</c:v>
                </c:pt>
                <c:pt idx="3">
                  <c:v>24.35</c:v>
                </c:pt>
                <c:pt idx="4">
                  <c:v>24.4</c:v>
                </c:pt>
                <c:pt idx="5">
                  <c:v>24.75</c:v>
                </c:pt>
                <c:pt idx="6">
                  <c:v>25.2</c:v>
                </c:pt>
                <c:pt idx="7">
                  <c:v>26</c:v>
                </c:pt>
                <c:pt idx="8">
                  <c:v>26.6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44F-4FE7-8505-ACAA8DA72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  <c:min val="2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CA" sz="1300" b="0" i="0" u="none" strike="noStrike">
                <a:solidFill>
                  <a:srgbClr val="1A2B4A"/>
                </a:solidFill>
                <a:latin typeface="Arial"/>
              </a:rPr>
              <a:t>Mean BMI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BMI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35-4AFA-BC58-8A4F57742C46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35-4AFA-BC58-8A4F57742C46}"/>
              </c:ext>
            </c:extLst>
          </c:dPt>
          <c:dPt>
            <c:idx val="2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35-4AFA-BC58-8A4F57742C4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F35-4AFA-BC58-8A4F57742C46}"/>
              </c:ext>
            </c:extLst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35-4AFA-BC58-8A4F57742C46}"/>
              </c:ext>
            </c:extLst>
          </c:dPt>
          <c:dPt>
            <c:idx val="5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F35-4AFA-BC58-8A4F57742C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Americas</c:v>
                </c:pt>
                <c:pt idx="1">
                  <c:v>W. Pacific</c:v>
                </c:pt>
                <c:pt idx="2">
                  <c:v>Europe</c:v>
                </c:pt>
                <c:pt idx="3">
                  <c:v>E. Medit.</c:v>
                </c:pt>
                <c:pt idx="4">
                  <c:v>SE Asia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27.83</c:v>
                </c:pt>
                <c:pt idx="1">
                  <c:v>27.28</c:v>
                </c:pt>
                <c:pt idx="2">
                  <c:v>26.76</c:v>
                </c:pt>
                <c:pt idx="3">
                  <c:v>26</c:v>
                </c:pt>
                <c:pt idx="4">
                  <c:v>21.99</c:v>
                </c:pt>
                <c:pt idx="5">
                  <c:v>20.03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F35-4AFA-BC58-8A4F57742C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Americas</c:v>
                </c:pt>
                <c:pt idx="2">
                  <c:v>SE Asia</c:v>
                </c:pt>
                <c:pt idx="3">
                  <c:v>Europe</c:v>
                </c:pt>
                <c:pt idx="4">
                  <c:v>E. Medit.</c:v>
                </c:pt>
                <c:pt idx="5">
                  <c:v>W. Pacific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143</c:v>
                </c:pt>
                <c:pt idx="1">
                  <c:v>51</c:v>
                </c:pt>
                <c:pt idx="2">
                  <c:v>42</c:v>
                </c:pt>
                <c:pt idx="3">
                  <c:v>37</c:v>
                </c:pt>
                <c:pt idx="4">
                  <c:v>31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4-4772-BC85-A32735E53A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4A"/>
                </a:solidFill>
                <a:latin typeface="Arial"/>
              </a:rPr>
              <a:t>Prophet BMI Forecast (10-year horizon)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+ Forecast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2020</c:v>
                </c:pt>
                <c:pt idx="7">
                  <c:v>2024</c:v>
                </c:pt>
                <c:pt idx="8">
                  <c:v>2026</c:v>
                </c:pt>
                <c:pt idx="9">
                  <c:v>2028</c:v>
                </c:pt>
                <c:pt idx="10">
                  <c:v>2030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24.8</c:v>
                </c:pt>
                <c:pt idx="2">
                  <c:v>24.3</c:v>
                </c:pt>
                <c:pt idx="3">
                  <c:v>24.35</c:v>
                </c:pt>
                <c:pt idx="4">
                  <c:v>24.4</c:v>
                </c:pt>
                <c:pt idx="5">
                  <c:v>24.75</c:v>
                </c:pt>
                <c:pt idx="6">
                  <c:v>26</c:v>
                </c:pt>
                <c:pt idx="7">
                  <c:v>26.8</c:v>
                </c:pt>
                <c:pt idx="8">
                  <c:v>27.2</c:v>
                </c:pt>
                <c:pt idx="9">
                  <c:v>27.7</c:v>
                </c:pt>
                <c:pt idx="10">
                  <c:v>28.2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CF4-472F-9922-EFF0CAB2F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2809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0.42199999999999999</c:v>
                </c:pt>
                <c:pt idx="2">
                  <c:v>0.38300000000000001</c:v>
                </c:pt>
                <c:pt idx="3">
                  <c:v>0.37</c:v>
                </c:pt>
                <c:pt idx="4">
                  <c:v>0.379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7B-4A7F-B224-E572D73484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4A"/>
                </a:solidFill>
                <a:latin typeface="Arial"/>
              </a:rPr>
              <a:t>Anomaly Ratio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Ratio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 Asia</c:v>
                </c:pt>
                <c:pt idx="1">
                  <c:v>Africa</c:v>
                </c:pt>
                <c:pt idx="2">
                  <c:v>E. Medit.</c:v>
                </c:pt>
                <c:pt idx="3">
                  <c:v>Americas</c:v>
                </c:pt>
                <c:pt idx="4">
                  <c:v>W. Pacific</c:v>
                </c:pt>
                <c:pt idx="5">
                  <c:v>Europe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4.6100000000000002E-2</c:v>
                </c:pt>
                <c:pt idx="1">
                  <c:v>3.9800000000000002E-2</c:v>
                </c:pt>
                <c:pt idx="2">
                  <c:v>3.9800000000000002E-2</c:v>
                </c:pt>
                <c:pt idx="3">
                  <c:v>3.3000000000000002E-2</c:v>
                </c:pt>
                <c:pt idx="4">
                  <c:v>1.66E-2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01-4E76-ACAB-831307698A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94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20F-228F-1203-DF73-5238513B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40CDE-AE8A-9E36-75B8-082EF2C00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9AFC6-5F75-482E-1A13-0B40317C2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CFE94-CFE2-8472-4629-6276F82E7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41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BMI Trends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Adults and Newborns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1148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422  |  </a:t>
            </a: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Virk  |  </a:t>
            </a: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1423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— April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Anomaly Detection · Trend Forecasting · Evaluation</a:t>
            </a:r>
            <a:endParaRPr lang="en-US" sz="13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426BC9A-F71F-431E-2993-CA76667D53D4}"/>
              </a:ext>
            </a:extLst>
          </p:cNvPr>
          <p:cNvSpPr/>
          <p:nvPr/>
        </p:nvSpPr>
        <p:spPr>
          <a:xfrm>
            <a:off x="457200" y="37326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MEJIA ALVAREZ (0872835)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SIRDHALA (0875854)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ZHANG (0879447)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PUSHP CHANDRASINH RATHAVA (0867974)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73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Risk Groups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145536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0040" y="31821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Trend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20040" y="3895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Anomaly Detection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754880" y="1042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060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— Long-Horizon Forecast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719072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754880" y="17556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773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754880" y="2468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Model Comparison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45536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754880" y="31821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29,918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56032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12648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1990–2022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countries into BMI risk groups using K-Means clustering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anomalous BMI records using Isolation Forest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global mean BMI trends using Prophet time-series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and evaluate all models with rigorous metrics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BMI_Value, CI_Low, CI_High, Year to numeric; coerce errors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CI_Range Feature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361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CI_Range = CI_High − CI_Low to capture uncertainty width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Filtering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missing Year, BMI_Value, CI_Range, CountryCode, Region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84632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28,017 clean adult records across 6 WHO regions, 1990–2022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Risk Groups (k =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1201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BMI_Value &amp; CI_Range (StandardScaler)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selected (confirmed by silhouette tuning)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ranked by mean BMI → Low / Medium / High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023360" cy="109728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937760" y="1069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90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countries · BMI ≈ 10–17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58568"/>
            <a:ext cx="4023360" cy="109728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93776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countries · BMI ≈ 17–28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557016"/>
            <a:ext cx="4023360" cy="10972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937760" y="3666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countries · BMI ≈ 28–50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FAAE08-31D1-2AB4-BEB2-D2371DC2C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56" y="2412507"/>
            <a:ext cx="4410844" cy="2508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Trend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914400"/>
          <a:ext cx="3200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Females: 26.3  ·  Both-sex: 24.5  ·  Males: 23.0  (mean BMI by sex)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Anomaly Detection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114300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records (NCD_BMI_25A)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06040" cy="114300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060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246120" y="1115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691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flagged (3.0%)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06040" cy="114300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0604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126480" y="11155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anomalies: 143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Count by Region</a:t>
            </a:r>
            <a:endParaRPr lang="en-US" sz="15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651760"/>
          <a:ext cx="5029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669280" y="2286000"/>
            <a:ext cx="3154680" cy="26060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585216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52160" y="2880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cluster at extreme BMI values (≈50) — ceiling effect in data reporting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has the highest raw anomaly count due to data variability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South-East Asia has the highest anomaly ratio (4.6%)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— Long-Horizon BMI Forecast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329184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15544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trend accelerating post-2015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projects mean BMI ≈ 28+ by 2031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 widens — uncertainty grows with horizon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shape motivates Prophet over simple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Silhouette vs k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k = 3 (max silhouette = 0.422)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Tuning Grid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4023360" cy="16535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3.01% (≈target)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54880" y="2971800"/>
            <a:ext cx="4023360" cy="14173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Model: Linear Regression (time split)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1.39  ·  RMSE: 1.42  ·  R²: −20.4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 model fails the non-linear trend; validates Prophet choice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Model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3)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097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separation (range: −1 to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= compact clusters (↓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678.75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= dense clusters (↑ better)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578608"/>
            <a:ext cx="8412480" cy="38404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54864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62656"/>
          <a:ext cx="8412480" cy="777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target 3%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Count /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 / 3.01%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alignment with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840480"/>
            <a:ext cx="8412480" cy="38404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7"/>
          <p:cNvSpPr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Trend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1.39  ·  RMSE: 1.42  ·  R²: −20.4  →  Poor fit; non-linear trend requires advanced models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Deep Dive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3"/>
          <p:cNvSpPr/>
          <p:nvPr/>
        </p:nvSpPr>
        <p:spPr>
          <a:xfrm>
            <a:off x="5669280" y="960120"/>
            <a:ext cx="6400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5806440" y="996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6440" y="1307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BMI (31.8) — obesity epidemic well-documented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87452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5669280" y="1874520"/>
            <a:ext cx="6400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806440" y="1911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0644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anomalies (143) driven by high data variability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278892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5669280" y="2788920"/>
            <a:ext cx="6400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580644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06440" y="3136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anomaly ratio (4.6%) — rapidly changing patterns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370332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5669280" y="3703320"/>
            <a:ext cx="6400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5806440" y="3739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06440" y="4050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mean BMI (26.8); lowest anomaly ratio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1097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NaN 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Sex-based t-test returned NaN — Sex column uses coded values (SEX_MLE/FMLE), not 'male'/'female'. str.contains() matched nothing. Requires preprocessing fix.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69080" cy="1097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892040" y="11612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161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−20.4 on test set. BMI trend is non-linear (dip 1990–2000, surge 2010+). LR extrapolated linearly, missing the curve. Prophet is the correct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069080" cy="1097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44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Ceiling Effect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anomalous records show BMI = 50.0, likely a data cap. This inflates anomaly counts in countries like IRL and MUS rather than reflecting true obesity.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069080" cy="1097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944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Newborn Data Not Used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references newborns, but analysis focuses on adult indicator (NCD_BMI_18A / NCD_BMI_25A). Newborn BMI indicators were present but not explored.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6692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Sex-Based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 Sex codes to 'male'/'female' and re-run Welch t-test; add Cohen's d for effect size.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66928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Newborns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newborn BMI indicators; compare trajectory between adult and newborn trends.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66928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0690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Prophet per country instead of global mean for more actionable public-health insights.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9601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001768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Clustering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14173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DBSCAN or GMM to capture non-spherical BMI distributions; validate with geographic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001768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1768" y="2743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GDP, urbanization, food-access indicators to explain anomalies and regional divergence.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64008" cy="1143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001768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40690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Streamlit / Dash app for interactive BMI exploration by region, sex, and year.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9966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adult BMI has risen from ~25 (1990) to ~26.6 (2022) with acceleration after 2010.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cleanly segments countries into Low/Medium/High risk; best silhouette = 0.422.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295144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has the highest mean BMI (31.8); Africa the lowest (20.0).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65760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9992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anomalies (3%) detected — concentrated in Africa and SE Asia; often tied to BMI ceiling values.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30168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65760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667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 projects mean global BMI exceeding 28 by 2031 if trends continue.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4572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6576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3342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inadequate (R²=−20.4); non-linear models are essential for BMI forecasting.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9A99B-0954-1EAE-7E8A-EC764980A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C3183A-CFD7-12DB-5611-8F3483111E0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18F2A6-72A9-D3E5-D627-C4107149D781}"/>
              </a:ext>
            </a:extLst>
          </p:cNvPr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0588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422  ·  </a:t>
            </a: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Virk  ·  </a:t>
            </a: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BMI Trends in Adults and Newborns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29,918 records  ·  K-Means k=3  ·  335 anomalies  ·  10-year forecast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1093</Words>
  <Application>Microsoft Office PowerPoint</Application>
  <PresentationFormat>On-screen Show (16:9)</PresentationFormat>
  <Paragraphs>193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BMI Trends in Adults and Newborns</dc:title>
  <dc:subject>PptxGenJS Presentation</dc:subject>
  <dc:creator>PptxGenJS</dc:creator>
  <cp:lastModifiedBy>Natalia Maria Mejia Alvarez</cp:lastModifiedBy>
  <cp:revision>4</cp:revision>
  <dcterms:created xsi:type="dcterms:W3CDTF">2026-04-08T16:32:20Z</dcterms:created>
  <dcterms:modified xsi:type="dcterms:W3CDTF">2026-04-09T02:43:32Z</dcterms:modified>
</cp:coreProperties>
</file>