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68" r:id="rId2"/>
    <p:sldId id="258" r:id="rId3"/>
    <p:sldId id="259" r:id="rId4"/>
    <p:sldId id="260" r:id="rId5"/>
    <p:sldId id="261" r:id="rId6"/>
    <p:sldId id="270" r:id="rId7"/>
    <p:sldId id="263" r:id="rId8"/>
    <p:sldId id="269" r:id="rId9"/>
    <p:sldId id="273" r:id="rId10"/>
    <p:sldId id="274" r:id="rId11"/>
    <p:sldId id="271" r:id="rId12"/>
    <p:sldId id="272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659A416-9C49-4A9A-9FBB-1BEA92AC5971}">
          <p14:sldIdLst>
            <p14:sldId id="268"/>
            <p14:sldId id="258"/>
            <p14:sldId id="259"/>
            <p14:sldId id="260"/>
            <p14:sldId id="261"/>
            <p14:sldId id="270"/>
            <p14:sldId id="263"/>
            <p14:sldId id="269"/>
            <p14:sldId id="273"/>
            <p14:sldId id="274"/>
            <p14:sldId id="271"/>
            <p14:sldId id="272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4FC093-9D53-6B14-3A57-4E9ECD296E7A}" v="40" dt="2026-04-05T19:23:42.514"/>
    <p1510:client id="{D9FC0AA3-6CDA-0AAC-E2E3-C82DD8E17C57}" v="139" dt="2026-04-05T19:07:54.8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9228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2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467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42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326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845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488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647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99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9928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6828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018890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2505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505515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6976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8799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8810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6985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81BBDC9-2DC6-4959-AC3D-49A5DCB05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74BB55-8517-4CFE-9389-81D0E6F81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3F7C935-E41E-4E8D-91DF-D3BAB9521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0045" y="4435646"/>
            <a:ext cx="1419541" cy="1660354"/>
            <a:chOff x="10292292" y="2963333"/>
            <a:chExt cx="1896535" cy="2218267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64230-1B44-4C76-9885-0BBE5C736C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3F7F181-4FFE-4F8E-A3D0-1A8ECDEFF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190344"/>
              <a:ext cx="1896535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066495D-EC57-44E4-8DED-0DC2E07AA2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E0DA2F2-D672-4417-8072-9ED4FA5C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0E8BACB-AEC7-46A5-A3AD-4D1BBE871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08452CCF-4A27-488A-AAF4-424933CFC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4212" y="0"/>
            <a:ext cx="4657345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108012-AA46-875F-4819-8DE64A023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4919" y="685800"/>
            <a:ext cx="3705269" cy="53085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1">
                <a:solidFill>
                  <a:srgbClr val="FFFFFF"/>
                </a:solidFill>
              </a:rPr>
              <a:t>Global BMI Trends in Adults.</a:t>
            </a:r>
            <a:br>
              <a:rPr lang="en-US" sz="3200" b="1">
                <a:solidFill>
                  <a:srgbClr val="FFFFFF"/>
                </a:solidFill>
              </a:rPr>
            </a:br>
            <a:r>
              <a:rPr lang="en-US" sz="3200" b="1">
                <a:solidFill>
                  <a:srgbClr val="FFFFFF"/>
                </a:solidFill>
              </a:rPr>
              <a:t> (1990–2024)</a:t>
            </a:r>
            <a:br>
              <a:rPr lang="en-US" sz="3200" b="1">
                <a:solidFill>
                  <a:srgbClr val="FFFFFF"/>
                </a:solidFill>
              </a:rPr>
            </a:br>
            <a:endParaRPr lang="en-US" sz="3200">
              <a:solidFill>
                <a:srgbClr val="FFFFFF"/>
              </a:solidFill>
            </a:endParaRPr>
          </a:p>
          <a:p>
            <a:endParaRPr lang="en-US" sz="3200">
              <a:solidFill>
                <a:srgbClr val="FFFFFF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65DA53-4A21-507A-DDE4-E4B9220AA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7953" y="1839686"/>
            <a:ext cx="4754563" cy="5410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28600"/>
            <a:r>
              <a:rPr lang="en-US" sz="1800" b="1" u="sng">
                <a:solidFill>
                  <a:srgbClr val="FFFFFF"/>
                </a:solidFill>
              </a:rPr>
              <a:t>PRESENTED BY Group no-04</a:t>
            </a:r>
            <a:endParaRPr lang="en-US" sz="1800">
              <a:solidFill>
                <a:srgbClr val="FFFFFF"/>
              </a:solidFill>
            </a:endParaRPr>
          </a:p>
          <a:p>
            <a:pPr marL="285750" indent="-285750"/>
            <a:r>
              <a:rPr lang="en-US" sz="1800" b="1">
                <a:solidFill>
                  <a:srgbClr val="FFFFFF"/>
                </a:solidFill>
              </a:rPr>
              <a:t>NATALIA MEJIA ALVAREZ (0872835)</a:t>
            </a:r>
            <a:endParaRPr lang="en-US" sz="1800">
              <a:solidFill>
                <a:srgbClr val="FFFFFF"/>
              </a:solidFill>
            </a:endParaRPr>
          </a:p>
          <a:p>
            <a:pPr marL="285750" indent="-285750"/>
            <a:r>
              <a:rPr lang="en-US" sz="1800" b="1">
                <a:solidFill>
                  <a:srgbClr val="FFFFFF"/>
                </a:solidFill>
              </a:rPr>
              <a:t>SHALINI SIRDHALA (0875854)</a:t>
            </a:r>
            <a:endParaRPr lang="en-US" sz="1800">
              <a:solidFill>
                <a:srgbClr val="FFFFFF"/>
              </a:solidFill>
            </a:endParaRPr>
          </a:p>
          <a:p>
            <a:pPr marL="285750" indent="-285750"/>
            <a:r>
              <a:rPr lang="en-US" sz="1800" b="1">
                <a:solidFill>
                  <a:srgbClr val="FFFFFF"/>
                </a:solidFill>
              </a:rPr>
              <a:t>JIE ZHANG (0879447)</a:t>
            </a:r>
            <a:endParaRPr lang="en-US" sz="1800">
              <a:solidFill>
                <a:srgbClr val="FFFFFF"/>
              </a:solidFill>
            </a:endParaRPr>
          </a:p>
          <a:p>
            <a:pPr marL="285750" indent="-285750"/>
            <a:r>
              <a:rPr lang="en-US" sz="1800" b="1">
                <a:solidFill>
                  <a:srgbClr val="FFFFFF"/>
                </a:solidFill>
              </a:rPr>
              <a:t>PUSHP CHANDRASINH RATHAVA(0867974)</a:t>
            </a:r>
            <a:endParaRPr lang="en-US" sz="1800">
              <a:solidFill>
                <a:srgbClr val="FFFFFF"/>
              </a:solidFill>
            </a:endParaRPr>
          </a:p>
          <a:p>
            <a:pPr marL="285750" indent="-285750"/>
            <a:endParaRPr lang="en-US" sz="1800">
              <a:solidFill>
                <a:srgbClr val="FFFFFF"/>
              </a:solidFill>
            </a:endParaRPr>
          </a:p>
          <a:p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8F12A52-78D7-C387-FECE-BF8295C71CBC}"/>
              </a:ext>
            </a:extLst>
          </p:cNvPr>
          <p:cNvSpPr>
            <a:spLocks noGrp="1"/>
          </p:cNvSpPr>
          <p:nvPr/>
        </p:nvSpPr>
        <p:spPr>
          <a:xfrm>
            <a:off x="6290371" y="-441960"/>
            <a:ext cx="5789004" cy="3700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CA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Subject : DAB 422-26W-002 CAPSTONE PROJECT 2  </a:t>
            </a:r>
            <a:endParaRPr lang="en-IN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CA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PROFESSOR: DR. Harpreet Virk</a:t>
            </a:r>
            <a:endParaRPr lang="en-IN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309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F4E830A-06F9-4EAA-9E65-110CF2421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esk with productivity items">
            <a:extLst>
              <a:ext uri="{FF2B5EF4-FFF2-40B4-BE49-F238E27FC236}">
                <a16:creationId xmlns:a16="http://schemas.microsoft.com/office/drawing/2014/main" id="{9862C206-6C96-7F9A-CB13-6304576CC12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r="-2" b="15603"/>
          <a:stretch>
            <a:fillRect/>
          </a:stretch>
        </p:blipFill>
        <p:spPr>
          <a:xfrm>
            <a:off x="3174" y="10"/>
            <a:ext cx="12192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0A75D97-6A2E-738E-DA01-2C6A566B6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898" y="1711475"/>
            <a:ext cx="8534400" cy="1507067"/>
          </a:xfrm>
        </p:spPr>
        <p:txBody>
          <a:bodyPr>
            <a:norm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93018-724E-CDE7-F41B-06611F260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383" y="2383971"/>
            <a:ext cx="8534400" cy="361526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US" sz="1900" b="1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9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</a:p>
          <a:p>
            <a:pPr>
              <a:lnSpc>
                <a:spcPct val="90000"/>
              </a:lnSpc>
            </a:pPr>
            <a:r>
              <a:rPr lang="en-US" sz="19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Description</a:t>
            </a:r>
          </a:p>
          <a:p>
            <a:pPr>
              <a:lnSpc>
                <a:spcPct val="90000"/>
              </a:lnSpc>
            </a:pPr>
            <a:r>
              <a:rPr lang="en-US" sz="19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Preparation</a:t>
            </a:r>
          </a:p>
          <a:p>
            <a:pPr>
              <a:lnSpc>
                <a:spcPct val="90000"/>
              </a:lnSpc>
            </a:pPr>
            <a:r>
              <a:rPr lang="en-US" sz="19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</a:p>
          <a:p>
            <a:pPr>
              <a:lnSpc>
                <a:spcPct val="90000"/>
              </a:lnSpc>
            </a:pPr>
            <a:r>
              <a:rPr lang="en-US" sz="19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Analysis Methods</a:t>
            </a:r>
          </a:p>
          <a:p>
            <a:pPr>
              <a:lnSpc>
                <a:spcPct val="90000"/>
              </a:lnSpc>
            </a:pPr>
            <a:r>
              <a:rPr lang="en-US" sz="19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Modelling</a:t>
            </a:r>
          </a:p>
          <a:p>
            <a:pPr>
              <a:lnSpc>
                <a:spcPct val="90000"/>
              </a:lnSpc>
            </a:pPr>
            <a:r>
              <a:rPr lang="en-US" sz="19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  <a:p>
            <a:pPr>
              <a:lnSpc>
                <a:spcPct val="90000"/>
              </a:lnSpc>
            </a:pPr>
            <a:r>
              <a:rPr lang="en-US" sz="19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lnSpc>
                <a:spcPct val="90000"/>
              </a:lnSpc>
            </a:pPr>
            <a:endParaRPr lang="en-IN" sz="19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1359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9403C7F-76AE-4587-92A2-D4E41EBE6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7E6BA4-17F3-9362-2AEF-F3AD2B583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8836" y="437846"/>
            <a:ext cx="5627158" cy="1507067"/>
          </a:xfrm>
        </p:spPr>
        <p:txBody>
          <a:bodyPr>
            <a:normAutofit/>
          </a:bodyPr>
          <a:lstStyle/>
          <a:p>
            <a:r>
              <a:rPr lang="en-IN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</a:p>
        </p:txBody>
      </p:sp>
      <p:pic>
        <p:nvPicPr>
          <p:cNvPr id="21" name="Picture 20" descr="An abstract design with lines and financial symbols">
            <a:extLst>
              <a:ext uri="{FF2B5EF4-FFF2-40B4-BE49-F238E27FC236}">
                <a16:creationId xmlns:a16="http://schemas.microsoft.com/office/drawing/2014/main" id="{94347771-1685-33DB-5170-03177E41EE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685" r="36306" b="3"/>
          <a:stretch>
            <a:fillRect/>
          </a:stretch>
        </p:blipFill>
        <p:spPr>
          <a:xfrm>
            <a:off x="831" y="10"/>
            <a:ext cx="3502025" cy="6857990"/>
          </a:xfrm>
          <a:prstGeom prst="rect">
            <a:avLst/>
          </a:prstGeom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07595-B1E5-95B7-1B75-6C0D91CDF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2212" y="1621971"/>
            <a:ext cx="6626072" cy="3615267"/>
          </a:xfrm>
        </p:spPr>
        <p:txBody>
          <a:bodyPr>
            <a:normAutofit/>
          </a:bodyPr>
          <a:lstStyle/>
          <a:p>
            <a:pPr marL="228600" indent="0">
              <a:lnSpc>
                <a:spcPct val="90000"/>
              </a:lnSpc>
              <a:buNone/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The goal of this project is to </a:t>
            </a:r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analyze global BMI data using machine learning techniques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 to understand obesity patterns worldwide.</a:t>
            </a:r>
          </a:p>
          <a:p>
            <a:pPr marL="228600" indent="0">
              <a:lnSpc>
                <a:spcPct val="90000"/>
              </a:lnSpc>
              <a:buNone/>
            </a:pPr>
            <a:r>
              <a:rPr lang="en-US" sz="17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Key objectives include</a:t>
            </a:r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Analyze </a:t>
            </a:r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long-term BMI trends over time</a:t>
            </a:r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Compare </a:t>
            </a:r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BMI across geographic regions</a:t>
            </a:r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Study </a:t>
            </a:r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BMI differences between male and female populations</a:t>
            </a:r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Identify </a:t>
            </a:r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BMI risk groups using clustering techniques</a:t>
            </a:r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Detect </a:t>
            </a:r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unusual BMI observations using anomaly detection</a:t>
            </a:r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0">
              <a:lnSpc>
                <a:spcPct val="90000"/>
              </a:lnSpc>
              <a:buNone/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These insights help understand global health risks related to obesity.</a:t>
            </a:r>
          </a:p>
          <a:p>
            <a:pPr>
              <a:lnSpc>
                <a:spcPct val="90000"/>
              </a:lnSpc>
            </a:pPr>
            <a:endParaRPr lang="en-IN" sz="170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6C71778-3DDA-4748-AEBB-2A4B75016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A1F5C7D-5183-424E-BD72-BBFC59C5A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848F76E-D8DE-4826-901B-4E4090240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AE84420-E672-4A16-8384-42BDDC4A9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44D91EB-FA8D-4FD3-88F8-053F9962B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56B711F-46BD-4789-926C-CF2F01F71D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4451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ADF2543-1B6F-4FBC-A7AF-53A0430E0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2A83D1-EBD4-0CAD-03C3-E466B3DDD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en-IN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Data description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0A6E81-6B71-43DF-877B-E964A9A4C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E35C3AD-357F-4004-A3F3-2D4EAF34A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37B6032-0A70-4F26-A9A3-B4D60DF11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E192CE3-3DD1-448F-93BE-42983DA0D5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6D3DA09-5C72-4562-BEDE-1937DF87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6ACA7CA-2A20-49D7-9053-E076463D7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9AC87-A7CD-4ADF-AEA1-820254062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2068511"/>
            <a:ext cx="8534400" cy="3615267"/>
          </a:xfrm>
        </p:spPr>
        <p:txBody>
          <a:bodyPr>
            <a:normAutofit/>
          </a:bodyPr>
          <a:lstStyle/>
          <a:p>
            <a:pPr marL="228600" indent="0">
              <a:lnSpc>
                <a:spcPct val="90000"/>
              </a:lnSpc>
              <a:buNone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BMI measurements collected across countries and years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28600" indent="0">
              <a:lnSpc>
                <a:spcPct val="90000"/>
              </a:lnSpc>
              <a:buNone/>
            </a:pPr>
            <a:r>
              <a:rPr lang="en-IN" sz="1400" b="1" u="sng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 Variables</a:t>
            </a:r>
            <a:endParaRPr lang="en-IN" sz="1400" u="sng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BMI Value – Estimated BMI measurement</a:t>
            </a:r>
          </a:p>
          <a:p>
            <a:pPr>
              <a:lnSpc>
                <a:spcPct val="90000"/>
              </a:lnSpc>
            </a:pPr>
            <a: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 Low – Lower confidence interval</a:t>
            </a:r>
          </a:p>
          <a:p>
            <a:pPr>
              <a:lnSpc>
                <a:spcPct val="90000"/>
              </a:lnSpc>
            </a:pPr>
            <a: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 High – Upper confidence interval</a:t>
            </a:r>
          </a:p>
          <a:p>
            <a:pPr>
              <a:lnSpc>
                <a:spcPct val="90000"/>
              </a:lnSpc>
            </a:pPr>
            <a: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 – Year of observation</a:t>
            </a:r>
          </a:p>
          <a:p>
            <a:pPr>
              <a:lnSpc>
                <a:spcPct val="90000"/>
              </a:lnSpc>
            </a:pPr>
            <a: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Sex – Male / Female / Both Sexes</a:t>
            </a:r>
          </a:p>
          <a:p>
            <a:pPr>
              <a:lnSpc>
                <a:spcPct val="90000"/>
              </a:lnSpc>
            </a:pPr>
            <a: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Country Code – Country identifier</a:t>
            </a:r>
          </a:p>
          <a:p>
            <a:pPr>
              <a:lnSpc>
                <a:spcPct val="90000"/>
              </a:lnSpc>
            </a:pPr>
            <a: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 – Geographic region</a:t>
            </a:r>
          </a:p>
          <a:p>
            <a:pPr>
              <a:lnSpc>
                <a:spcPct val="90000"/>
              </a:lnSpc>
            </a:pPr>
            <a: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Indicator – BMI measurement indicator</a:t>
            </a:r>
          </a:p>
          <a:p>
            <a:pPr marL="228600" indent="0">
              <a:lnSpc>
                <a:spcPct val="90000"/>
              </a:lnSpc>
              <a:buNone/>
            </a:pPr>
            <a: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focuses on </a:t>
            </a:r>
            <a:r>
              <a:rPr lang="en-IN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adult BMI indicator (NCD_BMI_25A)</a:t>
            </a:r>
            <a: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consistency.</a:t>
            </a:r>
          </a:p>
          <a:p>
            <a:pPr>
              <a:lnSpc>
                <a:spcPct val="90000"/>
              </a:lnSpc>
            </a:pPr>
            <a:endParaRPr lang="en-IN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3681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1BBDC9-2DC6-4959-AC3D-49A5DCB05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74BB55-8517-4CFE-9389-81D0E6F81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3F7C935-E41E-4E8D-91DF-D3BAB9521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0045" y="4435646"/>
            <a:ext cx="1419541" cy="1660354"/>
            <a:chOff x="10292292" y="2963333"/>
            <a:chExt cx="1896535" cy="22182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FB64230-1B44-4C76-9885-0BBE5C736C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3F7F181-4FFE-4F8E-A3D0-1A8ECDEFF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190344"/>
              <a:ext cx="1896535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066495D-EC57-44E4-8DED-0DC2E07AA2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0DA2F2-D672-4417-8072-9ED4FA5C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0E8BACB-AEC7-46A5-A3AD-4D1BBE871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08452CCF-4A27-488A-AAF4-424933CFC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4212" y="0"/>
            <a:ext cx="4657345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593010-8A49-6EDE-9EA0-4282A6DC3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4919" y="685800"/>
            <a:ext cx="3705269" cy="5308599"/>
          </a:xfrm>
        </p:spPr>
        <p:txBody>
          <a:bodyPr>
            <a:normAutofit/>
          </a:bodyPr>
          <a:lstStyle/>
          <a:p>
            <a:r>
              <a:rPr lang="en-IN" sz="3200" b="1" u="sng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182ED-F40B-1A25-90BA-09574C4CD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6553" y="685800"/>
            <a:ext cx="4754563" cy="5410200"/>
          </a:xfrm>
        </p:spPr>
        <p:txBody>
          <a:bodyPr>
            <a:normAutofit/>
          </a:bodyPr>
          <a:lstStyle/>
          <a:p>
            <a:pPr marL="228600" indent="0">
              <a:buNone/>
            </a:pPr>
            <a:r>
              <a:rPr lang="en-US" sz="18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Before modelling, the dataset was cleaned and prepared.</a:t>
            </a:r>
          </a:p>
          <a:p>
            <a:pPr marL="228600" indent="0">
              <a:buNone/>
            </a:pPr>
            <a:r>
              <a:rPr lang="en-US" sz="1800" u="sng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 performed</a:t>
            </a:r>
            <a:r>
              <a:rPr lang="en-US" sz="18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18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Converted BMI Value, CI Low, CI High, and Year into numeric format</a:t>
            </a:r>
          </a:p>
          <a:p>
            <a:r>
              <a:rPr lang="en-US" sz="18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Removed missing or incomplete records</a:t>
            </a:r>
          </a:p>
          <a:p>
            <a:r>
              <a:rPr lang="en-US" sz="18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Created a new feature:</a:t>
            </a:r>
          </a:p>
          <a:p>
            <a:r>
              <a:rPr lang="en-US" sz="18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 Range = CI High − CI Low</a:t>
            </a:r>
          </a:p>
          <a:p>
            <a:pPr marL="228600" indent="0">
              <a:buNone/>
            </a:pPr>
            <a:r>
              <a:rPr lang="en-US" sz="18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feature measures the width of the confidence interval, which indicates the reliability of BMI estimates.</a:t>
            </a:r>
          </a:p>
          <a:p>
            <a:pPr marL="228600" indent="0">
              <a:buNone/>
            </a:pPr>
            <a:r>
              <a:rPr lang="en-US" sz="18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clustering analysis, the latest available year of data was selected. </a:t>
            </a:r>
          </a:p>
          <a:p>
            <a:endParaRPr lang="en-IN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2227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62CE031E-EE35-4AA7-9784-805093327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18D62D3-5800-4F4A-95BE-C1A2BB8B2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C9E4F52-5D94-4242-AC69-EE6A23FAB1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22CC7C0-D1D6-4FF0-A60C-1AEB9C8736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9B43E48-8275-4871-8745-F5CB75CFDB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87ED701-F942-4771-8F92-6EFCC2E8E0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7E89D346-FD24-4FBA-A956-3200CC1759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F97937-190C-2002-95B6-E8BDCBE78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474" y="209972"/>
            <a:ext cx="6196363" cy="15070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1" u="sng">
                <a:solidFill>
                  <a:srgbClr val="FFFFFF"/>
                </a:solidFill>
              </a:rPr>
              <a:t>Exploratory data analysis</a:t>
            </a:r>
            <a:endParaRPr lang="en-US" sz="3200">
              <a:solidFill>
                <a:srgbClr val="FFFFFF"/>
              </a:solidFill>
            </a:endParaRPr>
          </a:p>
          <a:p>
            <a:endParaRPr lang="en-US" sz="3200">
              <a:solidFill>
                <a:srgbClr val="FFFFFF"/>
              </a:solidFill>
            </a:endParaRPr>
          </a:p>
        </p:txBody>
      </p:sp>
      <p:sp useBgFill="1">
        <p:nvSpPr>
          <p:cNvPr id="41" name="Snip Diagonal Corner Rectangle 18">
            <a:extLst>
              <a:ext uri="{FF2B5EF4-FFF2-40B4-BE49-F238E27FC236}">
                <a16:creationId xmlns:a16="http://schemas.microsoft.com/office/drawing/2014/main" id="{9F1E6C01-CE56-48FB-B0C1-482CC243D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000" y="620722"/>
            <a:ext cx="5136155" cy="5286838"/>
          </a:xfrm>
          <a:prstGeom prst="snip2DiagRect">
            <a:avLst>
              <a:gd name="adj1" fmla="val 11486"/>
              <a:gd name="adj2" fmla="val 0"/>
            </a:avLst>
          </a:prstGeom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D68AC-3122-89B4-28BE-576187E04B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8" y="2006600"/>
            <a:ext cx="4819653" cy="36152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/>
            <a:r>
              <a:rPr lang="en-US" sz="1800">
                <a:solidFill>
                  <a:srgbClr val="0F496F"/>
                </a:solidFill>
              </a:rPr>
              <a:t>EDA was performed to understand BMIpatterns.</a:t>
            </a:r>
          </a:p>
          <a:p>
            <a:pPr marL="0" indent="0"/>
            <a:endParaRPr lang="en-US" sz="1800">
              <a:solidFill>
                <a:srgbClr val="0F496F"/>
              </a:solidFill>
            </a:endParaRPr>
          </a:p>
          <a:p>
            <a:pPr marL="0" indent="0"/>
            <a:r>
              <a:rPr lang="en-US" sz="1800" b="1" u="sng">
                <a:solidFill>
                  <a:srgbClr val="0F496F"/>
                </a:solidFill>
              </a:rPr>
              <a:t>BMI Distribution</a:t>
            </a:r>
            <a:endParaRPr lang="en-US" sz="1800">
              <a:solidFill>
                <a:srgbClr val="0F496F"/>
              </a:solidFill>
            </a:endParaRPr>
          </a:p>
          <a:p>
            <a:pPr marL="0" indent="0"/>
            <a:r>
              <a:rPr lang="en-US" sz="1800">
                <a:solidFill>
                  <a:srgbClr val="0F496F"/>
                </a:solidFill>
              </a:rPr>
              <a:t>Average BMI across the dataset ≈ </a:t>
            </a:r>
            <a:r>
              <a:rPr lang="en-US" sz="1800" b="1">
                <a:solidFill>
                  <a:srgbClr val="0F496F"/>
                </a:solidFill>
              </a:rPr>
              <a:t>24.66</a:t>
            </a:r>
            <a:endParaRPr lang="en-US" sz="1800">
              <a:solidFill>
                <a:srgbClr val="0F496F"/>
              </a:solidFill>
            </a:endParaRPr>
          </a:p>
          <a:p>
            <a:pPr marL="0" indent="0"/>
            <a:r>
              <a:rPr lang="en-US" sz="1800" b="1" u="sng">
                <a:solidFill>
                  <a:srgbClr val="0F496F"/>
                </a:solidFill>
              </a:rPr>
              <a:t>BMI by Sex</a:t>
            </a:r>
            <a:endParaRPr lang="en-US" sz="1800">
              <a:solidFill>
                <a:srgbClr val="0F496F"/>
              </a:solidFill>
            </a:endParaRPr>
          </a:p>
          <a:p>
            <a:pPr marL="0" indent="0"/>
            <a:r>
              <a:rPr lang="en-US" sz="1800">
                <a:solidFill>
                  <a:srgbClr val="0F496F"/>
                </a:solidFill>
              </a:rPr>
              <a:t>Female – Highest average BMI</a:t>
            </a:r>
          </a:p>
          <a:p>
            <a:pPr marL="0" indent="0"/>
            <a:r>
              <a:rPr lang="en-US" sz="1800">
                <a:solidFill>
                  <a:srgbClr val="0F496F"/>
                </a:solidFill>
              </a:rPr>
              <a:t>Both sexes – Medium values</a:t>
            </a:r>
          </a:p>
          <a:p>
            <a:pPr marL="0" indent="0"/>
            <a:r>
              <a:rPr lang="en-US" sz="1800">
                <a:solidFill>
                  <a:srgbClr val="0F496F"/>
                </a:solidFill>
              </a:rPr>
              <a:t>Male – Lowest average BMI</a:t>
            </a:r>
          </a:p>
          <a:p>
            <a:pPr marL="0" indent="0"/>
            <a:endParaRPr lang="en-US" sz="1800">
              <a:solidFill>
                <a:srgbClr val="0F496F"/>
              </a:solidFill>
            </a:endParaRPr>
          </a:p>
          <a:p>
            <a:pPr marL="0" indent="0"/>
            <a:endParaRPr lang="en-US" sz="1800">
              <a:solidFill>
                <a:srgbClr val="0F496F"/>
              </a:solidFill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A392D60-45E0-40B9-8C90-AAD5DEEB2A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4B80EDE-F871-46B0-9AB3-412881E85E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B8F6E8A3-EBC1-40F1-8FCE-A53865BFE4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8F26AFFD-8905-47E9-9486-2047002287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7D824390-77F4-4ADA-9D04-2E69B37846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B09EDA7C-6260-4723-836A-6AB7804A10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204B052-B183-1440-1E44-F9A684C3076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61451577"/>
              </p:ext>
            </p:extLst>
          </p:nvPr>
        </p:nvGraphicFramePr>
        <p:xfrm>
          <a:off x="1124573" y="1346944"/>
          <a:ext cx="4155008" cy="3834397"/>
        </p:xfrm>
        <a:graphic>
          <a:graphicData uri="http://schemas.openxmlformats.org/drawingml/2006/table">
            <a:tbl>
              <a:tblPr firstRow="1" bandRow="1">
                <a:solidFill>
                  <a:schemeClr val="tx1">
                    <a:lumMod val="65000"/>
                    <a:lumOff val="35000"/>
                  </a:schemeClr>
                </a:solidFill>
                <a:tableStyleId>{5C22544A-7EE6-4342-B048-85BDC9FD1C3A}</a:tableStyleId>
              </a:tblPr>
              <a:tblGrid>
                <a:gridCol w="2449083">
                  <a:extLst>
                    <a:ext uri="{9D8B030D-6E8A-4147-A177-3AD203B41FA5}">
                      <a16:colId xmlns:a16="http://schemas.microsoft.com/office/drawing/2014/main" val="2124093780"/>
                    </a:ext>
                  </a:extLst>
                </a:gridCol>
                <a:gridCol w="1705925">
                  <a:extLst>
                    <a:ext uri="{9D8B030D-6E8A-4147-A177-3AD203B41FA5}">
                      <a16:colId xmlns:a16="http://schemas.microsoft.com/office/drawing/2014/main" val="613532954"/>
                    </a:ext>
                  </a:extLst>
                </a:gridCol>
              </a:tblGrid>
              <a:tr h="797732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875"/>
                        </a:lnSpc>
                        <a:buNone/>
                      </a:pPr>
                      <a:r>
                        <a:rPr lang="en-IN" sz="1800" b="1" i="0" u="sng" cap="all" spc="6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Region</a:t>
                      </a:r>
                      <a:endParaRPr lang="en-IN" sz="1800" b="1" i="0" cap="all" spc="6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07477" marR="207477" marT="207477" marB="20747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875"/>
                        </a:lnSpc>
                        <a:buNone/>
                      </a:pPr>
                      <a:r>
                        <a:rPr lang="en-IN" sz="1800" b="1" i="0" u="sng" cap="all" spc="6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Avg BMI</a:t>
                      </a:r>
                      <a:endParaRPr lang="en-IN" sz="1800" b="1" i="0" cap="all" spc="6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07477" marR="207477" marT="207477" marB="20747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3236752"/>
                  </a:ext>
                </a:extLst>
              </a:tr>
              <a:tr h="607333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875"/>
                        </a:lnSpc>
                        <a:buNone/>
                      </a:pPr>
                      <a:r>
                        <a:rPr lang="en-IN" sz="2400" b="0" i="0" cap="none" spc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Americas</a:t>
                      </a:r>
                      <a:endParaRPr lang="en-IN" sz="2400" b="0" i="0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70384" marR="95384" marT="48681" marB="1383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875"/>
                        </a:lnSpc>
                        <a:buNone/>
                      </a:pPr>
                      <a:r>
                        <a:rPr lang="en-IN" sz="2400" b="0" i="0" cap="none" spc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~27.8</a:t>
                      </a:r>
                      <a:endParaRPr lang="en-IN" sz="2400" b="0" i="0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70384" marR="95384" marT="48681" marB="1383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0607620"/>
                  </a:ext>
                </a:extLst>
              </a:tr>
              <a:tr h="607333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875"/>
                        </a:lnSpc>
                        <a:buNone/>
                      </a:pPr>
                      <a:r>
                        <a:rPr lang="en-IN" sz="2400" b="0" i="0" cap="none" spc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Western Pacific</a:t>
                      </a:r>
                      <a:endParaRPr lang="en-IN" sz="2400" b="0" i="0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70384" marR="95384" marT="48681" marB="1383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875"/>
                        </a:lnSpc>
                        <a:buNone/>
                      </a:pPr>
                      <a:r>
                        <a:rPr lang="en-IN" sz="2400" b="0" i="0" cap="none" spc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~27.3</a:t>
                      </a:r>
                      <a:endParaRPr lang="en-IN" sz="2400" b="0" i="0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70384" marR="95384" marT="48681" marB="1383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588757"/>
                  </a:ext>
                </a:extLst>
              </a:tr>
              <a:tr h="607333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875"/>
                        </a:lnSpc>
                        <a:buNone/>
                      </a:pPr>
                      <a:r>
                        <a:rPr lang="en-IN" sz="2400" b="0" i="0" cap="none" spc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Europe</a:t>
                      </a:r>
                      <a:endParaRPr lang="en-IN" sz="2400" b="0" i="0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70384" marR="95384" marT="48681" marB="1383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875"/>
                        </a:lnSpc>
                        <a:buNone/>
                      </a:pPr>
                      <a:r>
                        <a:rPr lang="en-IN" sz="2400" b="0" i="0" cap="none" spc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~26.8</a:t>
                      </a:r>
                      <a:endParaRPr lang="en-IN" sz="2400" b="0" i="0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70384" marR="95384" marT="48681" marB="1383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616705"/>
                  </a:ext>
                </a:extLst>
              </a:tr>
              <a:tr h="607333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875"/>
                        </a:lnSpc>
                        <a:buNone/>
                      </a:pPr>
                      <a:r>
                        <a:rPr lang="en-IN" sz="2400" b="0" i="0" cap="none" spc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South-East Asia</a:t>
                      </a:r>
                      <a:endParaRPr lang="en-IN" sz="2400" b="0" i="0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70384" marR="95384" marT="48681" marB="1383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875"/>
                        </a:lnSpc>
                        <a:buNone/>
                      </a:pPr>
                      <a:r>
                        <a:rPr lang="en-IN" sz="2400" b="0" i="0" cap="none" spc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~22.0</a:t>
                      </a:r>
                      <a:endParaRPr lang="en-IN" sz="2400" b="0" i="0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70384" marR="95384" marT="48681" marB="1383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009939"/>
                  </a:ext>
                </a:extLst>
              </a:tr>
              <a:tr h="607333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875"/>
                        </a:lnSpc>
                        <a:buNone/>
                      </a:pPr>
                      <a:r>
                        <a:rPr lang="en-IN" sz="2400" b="0" i="0" cap="none" spc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Africa</a:t>
                      </a:r>
                      <a:endParaRPr lang="en-IN" sz="2400" b="0" i="0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70384" marR="95384" marT="48681" marB="1383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875"/>
                        </a:lnSpc>
                        <a:buNone/>
                      </a:pPr>
                      <a:r>
                        <a:rPr lang="en-IN" sz="2400" b="0" i="0" cap="none" spc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~20.0</a:t>
                      </a:r>
                      <a:endParaRPr lang="en-IN" sz="2400" b="0" i="0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70384" marR="95384" marT="48681" marB="1383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4056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3060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9403C7F-76AE-4587-92A2-D4E41EBE6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1AF7BF-7605-963C-6D42-4ADED38BF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0608" y="89503"/>
            <a:ext cx="5627158" cy="1507067"/>
          </a:xfrm>
        </p:spPr>
        <p:txBody>
          <a:bodyPr>
            <a:normAutofit/>
          </a:bodyPr>
          <a:lstStyle/>
          <a:p>
            <a:r>
              <a:rPr lang="en-IN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Proposed Analysis Method</a:t>
            </a:r>
          </a:p>
        </p:txBody>
      </p:sp>
      <p:pic>
        <p:nvPicPr>
          <p:cNvPr id="5" name="Picture 4" descr="Financial graphs on a dark display">
            <a:extLst>
              <a:ext uri="{FF2B5EF4-FFF2-40B4-BE49-F238E27FC236}">
                <a16:creationId xmlns:a16="http://schemas.microsoft.com/office/drawing/2014/main" id="{C3C82A69-7735-2C45-618C-35AC69631C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336" r="36749" b="4"/>
          <a:stretch>
            <a:fillRect/>
          </a:stretch>
        </p:blipFill>
        <p:spPr>
          <a:xfrm>
            <a:off x="831" y="10"/>
            <a:ext cx="3502025" cy="6857990"/>
          </a:xfrm>
          <a:prstGeom prst="rect">
            <a:avLst/>
          </a:prstGeom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D93C0-EFFD-0D33-EEFC-E55AABD36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4612" y="2264229"/>
            <a:ext cx="6626072" cy="3615267"/>
          </a:xfrm>
        </p:spPr>
        <p:txBody>
          <a:bodyPr>
            <a:normAutofit/>
          </a:bodyPr>
          <a:lstStyle/>
          <a:p>
            <a:pPr marL="228600" indent="0">
              <a:lnSpc>
                <a:spcPct val="90000"/>
              </a:lnSpc>
              <a:buNone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Three analytical approaches were used:</a:t>
            </a:r>
            <a:endParaRPr lang="en-US"/>
          </a:p>
          <a:p>
            <a:pPr marL="228600" indent="0">
              <a:lnSpc>
                <a:spcPct val="90000"/>
              </a:lnSpc>
              <a:buNone/>
            </a:pP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1. Clustering Analysis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IN" dirty="0">
                <a:latin typeface="Times New Roman"/>
                <a:cs typeface="Times New Roman"/>
              </a:rPr>
              <a:t>Identify BMI risk groups</a:t>
            </a:r>
          </a:p>
          <a:p>
            <a:pPr marL="228600" indent="0">
              <a:lnSpc>
                <a:spcPct val="90000"/>
              </a:lnSpc>
              <a:buNone/>
            </a:pP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2. Trend Analysis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Examine BMI changes over time</a:t>
            </a:r>
          </a:p>
          <a:p>
            <a:pPr marL="228600" indent="0">
              <a:lnSpc>
                <a:spcPct val="90000"/>
              </a:lnSpc>
              <a:buNone/>
            </a:pP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3. Anomaly Detection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Detect unusual BMI observations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These methods help discover </a:t>
            </a: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hidden patterns in global health data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90000"/>
              </a:lnSpc>
            </a:pPr>
            <a:endParaRPr lang="en-IN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6C71778-3DDA-4748-AEBB-2A4B75016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A1F5C7D-5183-424E-BD72-BBFC59C5A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848F76E-D8DE-4826-901B-4E4090240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AE84420-E672-4A16-8384-42BDDC4A9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44D91EB-FA8D-4FD3-88F8-053F9962B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56B711F-46BD-4789-926C-CF2F01F71D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65831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6CC7770B-E4E1-42D6-9437-DAA4A3A9E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26DE5B-A1A6-4746-8EF7-4D6809ED7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77A3DDA-BF17-4302-867E-EBFD777B0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BE30704-4227-4B7B-BDB8-BFCF39086F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23B1E7-AEA4-42D8-8F4A-9D116F2966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21B6244-6EAE-442C-ACCF-8146103EC1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CADF2543-1B6F-4FBC-A7AF-53A0430E0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F3A746-8065-AED0-1C57-9CFC05270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u="sng"/>
              <a:t>Machine Learning Modelling</a:t>
            </a:r>
            <a:endParaRPr lang="en-US"/>
          </a:p>
          <a:p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80A6E81-6B71-43DF-877B-E964A9A4C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E35C3AD-357F-4004-A3F3-2D4EAF34A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37B6032-0A70-4F26-A9A3-B4D60DF11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E192CE3-3DD1-448F-93BE-42983DA0D5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6D3DA09-5C72-4562-BEDE-1937DF87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6ACA7CA-2A20-49D7-9053-E076463D7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1A23D-8B26-18C8-2E66-7452C9421B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4212" y="1997391"/>
            <a:ext cx="3454400" cy="3686387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400">
                <a:solidFill>
                  <a:schemeClr val="tx1"/>
                </a:solidFill>
              </a:rPr>
              <a:t>Three models were applied:</a:t>
            </a:r>
            <a:endParaRPr lang="en-US" sz="1400" dirty="0">
              <a:solidFill>
                <a:schemeClr val="tx1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400" b="1">
                <a:solidFill>
                  <a:schemeClr val="tx1"/>
                </a:solidFill>
              </a:rPr>
              <a:t>1. K-Means Clustering</a:t>
            </a:r>
            <a:endParaRPr lang="en-US" sz="1400" dirty="0">
              <a:solidFill>
                <a:schemeClr val="tx1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400" u="sng">
                <a:solidFill>
                  <a:schemeClr val="tx1"/>
                </a:solidFill>
              </a:rPr>
              <a:t>Feature</a:t>
            </a:r>
            <a:r>
              <a:rPr lang="en-US" sz="1400">
                <a:solidFill>
                  <a:schemeClr val="tx1"/>
                </a:solidFill>
              </a:rPr>
              <a:t>s:</a:t>
            </a:r>
            <a:endParaRPr lang="en-US" sz="1400" dirty="0">
              <a:solidFill>
                <a:schemeClr val="tx1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400">
                <a:solidFill>
                  <a:schemeClr val="tx1"/>
                </a:solidFill>
              </a:rPr>
              <a:t>BMI Value</a:t>
            </a:r>
            <a:endParaRPr lang="en-US" sz="1400" dirty="0">
              <a:solidFill>
                <a:schemeClr val="tx1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400">
                <a:solidFill>
                  <a:schemeClr val="tx1"/>
                </a:solidFill>
              </a:rPr>
              <a:t>CI Range</a:t>
            </a:r>
            <a:endParaRPr lang="en-US" sz="1400" dirty="0">
              <a:solidFill>
                <a:schemeClr val="tx1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400" u="sng" dirty="0">
                <a:solidFill>
                  <a:schemeClr val="tx1"/>
                </a:solidFill>
              </a:rPr>
              <a:t>Clusters identified</a:t>
            </a:r>
            <a:r>
              <a:rPr lang="en-US" sz="1400" dirty="0">
                <a:solidFill>
                  <a:schemeClr val="tx1"/>
                </a:solidFill>
              </a:rPr>
              <a:t>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>
                <a:solidFill>
                  <a:schemeClr val="tx1"/>
                </a:solidFill>
              </a:rPr>
              <a:t>Low Risk</a:t>
            </a:r>
            <a:endParaRPr lang="en-US" sz="1400" dirty="0">
              <a:solidFill>
                <a:schemeClr val="tx1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400">
                <a:solidFill>
                  <a:schemeClr val="tx1"/>
                </a:solidFill>
              </a:rPr>
              <a:t>Medium Risk</a:t>
            </a:r>
            <a:endParaRPr lang="en-US" sz="1400" dirty="0">
              <a:solidFill>
                <a:schemeClr val="tx1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400">
                <a:solidFill>
                  <a:schemeClr val="tx1"/>
                </a:solidFill>
              </a:rPr>
              <a:t>High Risk</a:t>
            </a:r>
            <a:endParaRPr lang="en-US" sz="1400" dirty="0">
              <a:solidFill>
                <a:schemeClr val="tx1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638E3A-A582-A5DB-91CF-BE46BAA00421}"/>
              </a:ext>
            </a:extLst>
          </p:cNvPr>
          <p:cNvSpPr txBox="1"/>
          <p:nvPr/>
        </p:nvSpPr>
        <p:spPr>
          <a:xfrm>
            <a:off x="5447387" y="2327380"/>
            <a:ext cx="3771226" cy="38533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en-US" sz="1400" b="1"/>
              <a:t>2. Trend Analysis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en-US" sz="1400" dirty="0"/>
              <a:t>Calculated average BMI per year </a:t>
            </a:r>
            <a:r>
              <a:rPr lang="en-US" sz="1400" dirty="0" err="1"/>
              <a:t>todetect</a:t>
            </a:r>
            <a:r>
              <a:rPr lang="en-US" sz="1400" dirty="0"/>
              <a:t> long-term trends.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endParaRPr lang="en-US" sz="1400" b="1" dirty="0"/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en-US" sz="1400" b="1"/>
              <a:t>3. Isolation Forest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en-US" sz="1400"/>
              <a:t>Used for anomaly detection.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en-US" sz="1400"/>
              <a:t>Parameters: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en-US" sz="1400"/>
              <a:t>n estimators = 200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en-US" sz="1400"/>
              <a:t>contamination = 0.03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en-US" sz="1400" dirty="0"/>
              <a:t>The model detected ~335 </a:t>
            </a:r>
            <a:r>
              <a:rPr lang="en-US" sz="1400" dirty="0" err="1"/>
              <a:t>anomalousBMI</a:t>
            </a:r>
            <a:r>
              <a:rPr lang="en-US" sz="1400" dirty="0"/>
              <a:t> observations.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endParaRPr lang="en-US" sz="1400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279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8C152077-984A-4612-B0E1-251C62EB1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C05450BA-2A87-4847-A5A0-E7D960557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A16F9ADA-A824-456A-9728-D5BFFE04D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63034157-938C-45F5-8DCA-208D22E5B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2369327A-A6C5-4293-80D1-DECEBA3F5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241" name="Rectangle 240">
            <a:extLst>
              <a:ext uri="{FF2B5EF4-FFF2-40B4-BE49-F238E27FC236}">
                <a16:creationId xmlns:a16="http://schemas.microsoft.com/office/drawing/2014/main" id="{F4872FFF-0DD8-4435-84B9-292254600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D11D37-F56F-B9E5-2740-90521BF27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710" y="628617"/>
            <a:ext cx="3971902" cy="302898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/>
              <a:t>Logistic Regression and Random Forest </a:t>
            </a:r>
          </a:p>
        </p:txBody>
      </p:sp>
      <p:sp>
        <p:nvSpPr>
          <p:cNvPr id="243" name="Snip Diagonal Corner Rectangle 6">
            <a:extLst>
              <a:ext uri="{FF2B5EF4-FFF2-40B4-BE49-F238E27FC236}">
                <a16:creationId xmlns:a16="http://schemas.microsoft.com/office/drawing/2014/main" id="{FBD7AE5A-DF68-4E58-ABFF-B4219A1FE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6" y="-2"/>
            <a:ext cx="7219522" cy="6858000"/>
          </a:xfrm>
          <a:prstGeom prst="snip2DiagRect">
            <a:avLst>
              <a:gd name="adj1" fmla="val 0"/>
              <a:gd name="adj2" fmla="val 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5" name="Rectangle 244">
            <a:extLst>
              <a:ext uri="{FF2B5EF4-FFF2-40B4-BE49-F238E27FC236}">
                <a16:creationId xmlns:a16="http://schemas.microsoft.com/office/drawing/2014/main" id="{BED9114F-24AE-47CE-9DB5-AEAC50B170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09539" y="0"/>
            <a:ext cx="2358525" cy="30822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7" name="Rectangle 246">
            <a:extLst>
              <a:ext uri="{FF2B5EF4-FFF2-40B4-BE49-F238E27FC236}">
                <a16:creationId xmlns:a16="http://schemas.microsoft.com/office/drawing/2014/main" id="{FDE89F02-ACEE-40E4-9C69-05C0D0DEB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350" y="4034649"/>
            <a:ext cx="2849462" cy="28140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B9BC3D7-E5FA-0BA7-D727-C1A36ACD81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1060" b="-3"/>
          <a:stretch>
            <a:fillRect/>
          </a:stretch>
        </p:blipFill>
        <p:spPr>
          <a:xfrm>
            <a:off x="3002038" y="3243069"/>
            <a:ext cx="4066029" cy="3605670"/>
          </a:xfrm>
          <a:prstGeom prst="rect">
            <a:avLst/>
          </a:prstGeom>
        </p:spPr>
      </p:pic>
      <p:pic>
        <p:nvPicPr>
          <p:cNvPr id="6" name="Content Placeholder 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573FEF1E-9A64-B20F-6F6C-180E44785C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974" b="1"/>
          <a:stretch>
            <a:fillRect/>
          </a:stretch>
        </p:blipFill>
        <p:spPr>
          <a:xfrm>
            <a:off x="-2" y="10"/>
            <a:ext cx="4551358" cy="3899748"/>
          </a:xfrm>
          <a:custGeom>
            <a:avLst/>
            <a:gdLst/>
            <a:ahLst/>
            <a:cxnLst/>
            <a:rect l="l" t="t" r="r" b="b"/>
            <a:pathLst>
              <a:path w="4551358" h="3899758">
                <a:moveTo>
                  <a:pt x="0" y="0"/>
                </a:moveTo>
                <a:lnTo>
                  <a:pt x="4551358" y="0"/>
                </a:lnTo>
                <a:lnTo>
                  <a:pt x="4551358" y="3077500"/>
                </a:lnTo>
                <a:lnTo>
                  <a:pt x="2843111" y="3077500"/>
                </a:lnTo>
                <a:lnTo>
                  <a:pt x="2843111" y="3899758"/>
                </a:lnTo>
                <a:lnTo>
                  <a:pt x="0" y="3899758"/>
                </a:lnTo>
                <a:close/>
              </a:path>
            </a:pathLst>
          </a:custGeom>
        </p:spPr>
      </p:pic>
      <p:grpSp>
        <p:nvGrpSpPr>
          <p:cNvPr id="249" name="Group 248">
            <a:extLst>
              <a:ext uri="{FF2B5EF4-FFF2-40B4-BE49-F238E27FC236}">
                <a16:creationId xmlns:a16="http://schemas.microsoft.com/office/drawing/2014/main" id="{A9D1CC48-9698-4EFC-B43B-BC82FC50D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FD1410DE-C04E-4DC6-8B4F-BAE369B63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5083929F-F193-4659-BD96-667CC892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A7A3A5B6-D5E0-4782-A7F3-E4AB5F666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CDD80BBE-50E6-4D84-8F39-C0A98D886A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0AAD51E4-37BF-4D28-B830-6AC80A699C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42738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F0C668-F0EE-A7FB-BBAC-58C9E650F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14167AF7-1E0F-2D80-3AE5-AEA1E2C1D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14A2CF6-EC0F-AA5F-E3AF-0026D4FDB2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DB206BB-ABCD-3465-397D-52C6949B78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008D134-4DD4-372F-6A1B-9FD7DF4816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BF765F1-7A6A-39B3-DAAC-871264EBA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B11A482-46F2-EF56-7EF1-F08043836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E381096A-0FA0-D3F2-495F-1CC564FF5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1771CA-D8A6-C44C-9FED-A76F7FD5E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u="sng" dirty="0"/>
              <a:t>Future </a:t>
            </a:r>
            <a:r>
              <a:rPr lang="en-US" u="sng" dirty="0" err="1"/>
              <a:t>predition</a:t>
            </a:r>
            <a:r>
              <a:rPr lang="en-US" u="sng" dirty="0"/>
              <a:t> Model</a:t>
            </a:r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7B75BBC-63B2-8A02-0E6B-2D76744994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24D60D1-59F1-621D-5B4C-09D875DEA1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2B8CE45-3DBC-2EE7-944A-AFCE31AA9C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B82954A-E461-2BF1-9A3D-6DB849F89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8D11B7C-D40D-3C44-89B5-3801FF331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C3BBC50-CA79-667D-E74D-DF1580B7CD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Picture 7" descr="wG36jyr2bAI8wAAAABJRU5ErkJggg== (989×612)">
            <a:extLst>
              <a:ext uri="{FF2B5EF4-FFF2-40B4-BE49-F238E27FC236}">
                <a16:creationId xmlns:a16="http://schemas.microsoft.com/office/drawing/2014/main" id="{ED4D08B5-E8C9-A34A-E95B-A16D07895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28" y="1987550"/>
            <a:ext cx="5274945" cy="3268980"/>
          </a:xfrm>
          <a:prstGeom prst="rect">
            <a:avLst/>
          </a:prstGeom>
        </p:spPr>
      </p:pic>
      <p:pic>
        <p:nvPicPr>
          <p:cNvPr id="15" name="Picture 14" descr="7g9HBSE3h+oAAAAAElFTkSuQmCC (822×451)">
            <a:extLst>
              <a:ext uri="{FF2B5EF4-FFF2-40B4-BE49-F238E27FC236}">
                <a16:creationId xmlns:a16="http://schemas.microsoft.com/office/drawing/2014/main" id="{496C4A19-C24F-6C0D-0CA6-0F6F77737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825" y="2043113"/>
            <a:ext cx="5756910" cy="3157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816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FD48FB1-66D8-4676-B0AA-C139A1DB7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33F5AE-6728-4F19-8DED-658E674B3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C7D74A-18BA-4709-A808-44E8815C4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5164A3F-1561-4039-8185-AB0EEB713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A35DB53-42BE-460E-9CA1-1294C98463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5BDD1EA-D8C1-45AF-9F0A-14A2A137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7BA1C7-24A2-8B2A-B96C-5066E770D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710" y="628617"/>
            <a:ext cx="3971902" cy="302898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/>
              <a:t>Deployment</a:t>
            </a:r>
          </a:p>
        </p:txBody>
      </p:sp>
      <p:sp>
        <p:nvSpPr>
          <p:cNvPr id="21" name="Snip Diagonal Corner Rectangle 6">
            <a:extLst>
              <a:ext uri="{FF2B5EF4-FFF2-40B4-BE49-F238E27FC236}">
                <a16:creationId xmlns:a16="http://schemas.microsoft.com/office/drawing/2014/main" id="{14354E08-0068-48D7-A8AD-84C7B1CF5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000" y="620722"/>
            <a:ext cx="6575496" cy="5286838"/>
          </a:xfrm>
          <a:prstGeom prst="snip2DiagRect">
            <a:avLst>
              <a:gd name="adj1" fmla="val 10787"/>
              <a:gd name="adj2" fmla="val 0"/>
            </a:avLst>
          </a:prstGeom>
          <a:solidFill>
            <a:schemeClr val="tx1"/>
          </a:solidFill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website&#10;&#10;AI-generated content may be incorrect.">
            <a:extLst>
              <a:ext uri="{FF2B5EF4-FFF2-40B4-BE49-F238E27FC236}">
                <a16:creationId xmlns:a16="http://schemas.microsoft.com/office/drawing/2014/main" id="{0240B746-9B66-2547-7DA5-57C52811AC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554" r="36275"/>
          <a:stretch>
            <a:fillRect/>
          </a:stretch>
        </p:blipFill>
        <p:spPr>
          <a:xfrm>
            <a:off x="799072" y="786117"/>
            <a:ext cx="6245352" cy="4956048"/>
          </a:xfrm>
          <a:custGeom>
            <a:avLst/>
            <a:gdLst/>
            <a:ahLst/>
            <a:cxnLst/>
            <a:rect l="l" t="t" r="r" b="b"/>
            <a:pathLst>
              <a:path w="6245352" h="4956048">
                <a:moveTo>
                  <a:pt x="534609" y="0"/>
                </a:moveTo>
                <a:lnTo>
                  <a:pt x="6245352" y="0"/>
                </a:lnTo>
                <a:lnTo>
                  <a:pt x="6245352" y="4421439"/>
                </a:lnTo>
                <a:lnTo>
                  <a:pt x="5710743" y="4956048"/>
                </a:lnTo>
                <a:lnTo>
                  <a:pt x="0" y="4956048"/>
                </a:lnTo>
                <a:lnTo>
                  <a:pt x="0" y="534609"/>
                </a:lnTo>
                <a:close/>
              </a:path>
            </a:pathLst>
          </a:cu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A779F34F-2960-4B81-BA08-445B6F6A0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A57ACC-416F-4A5D-B7F7-DDA9886A3A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6522B4F-50C4-4FCE-8AE2-3789D63ED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C3978FC-B5D1-42BE-B086-BC2A733D58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CED99F1-340D-4970-8E66-3B28E92711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0A54E39-63C0-4847-A766-C6B74FEB48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95759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103B461-323C-4912-BFFD-C37582662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BC21318-F4F4-4524-95D1-6B7FE0A78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9FFA8E5-974F-409E-89C6-E185BD9093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384E2B1-7008-45EE-9F2E-FEF3A0897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4563410-7FE9-4955-89C6-0FB9326CD3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AD14C0E-D5DF-4BDC-BD92-642CFF180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A212F8F-D812-4A16-BE82-F3500DE321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nip Diagonal Corner Rectangle 24">
            <a:extLst>
              <a:ext uri="{FF2B5EF4-FFF2-40B4-BE49-F238E27FC236}">
                <a16:creationId xmlns:a16="http://schemas.microsoft.com/office/drawing/2014/main" id="{D2CF1D1B-04ED-443D-A9FE-68BF8859B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229" y="620722"/>
            <a:ext cx="10935543" cy="5286838"/>
          </a:xfrm>
          <a:prstGeom prst="snip2DiagRect">
            <a:avLst>
              <a:gd name="adj1" fmla="val 10787"/>
              <a:gd name="adj2" fmla="val 0"/>
            </a:avLst>
          </a:prstGeom>
          <a:solidFill>
            <a:schemeClr val="tx1"/>
          </a:solidFill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DEA6BF6-7B80-E3D0-36D4-10D4CE7988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1091" y="786117"/>
            <a:ext cx="8929817" cy="4956048"/>
          </a:xfrm>
          <a:custGeom>
            <a:avLst/>
            <a:gdLst/>
            <a:ahLst/>
            <a:cxnLst/>
            <a:rect l="l" t="t" r="r" b="b"/>
            <a:pathLst>
              <a:path w="10607040" h="4956048">
                <a:moveTo>
                  <a:pt x="497480" y="0"/>
                </a:moveTo>
                <a:lnTo>
                  <a:pt x="10607040" y="0"/>
                </a:lnTo>
                <a:lnTo>
                  <a:pt x="10607040" y="4485407"/>
                </a:lnTo>
                <a:lnTo>
                  <a:pt x="10131692" y="4956048"/>
                </a:lnTo>
                <a:lnTo>
                  <a:pt x="0" y="4956048"/>
                </a:lnTo>
                <a:lnTo>
                  <a:pt x="0" y="492554"/>
                </a:ln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8FD196-BCCA-196F-2BC6-01415BA27C7D}"/>
              </a:ext>
            </a:extLst>
          </p:cNvPr>
          <p:cNvSpPr txBox="1"/>
          <p:nvPr/>
        </p:nvSpPr>
        <p:spPr>
          <a:xfrm>
            <a:off x="133674" y="255761"/>
            <a:ext cx="291487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BMI Calculator</a:t>
            </a:r>
          </a:p>
        </p:txBody>
      </p:sp>
    </p:spTree>
    <p:extLst>
      <p:ext uri="{BB962C8B-B14F-4D97-AF65-F5344CB8AC3E}">
        <p14:creationId xmlns:p14="http://schemas.microsoft.com/office/powerpoint/2010/main" val="2878095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8F4E830A-06F9-4EAA-9E65-110CF2421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4A4A147B-02E7-70E6-3C0B-6392D1A622F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495" b="15236"/>
          <a:stretch>
            <a:fillRect/>
          </a:stretch>
        </p:blipFill>
        <p:spPr>
          <a:xfrm>
            <a:off x="3174" y="10"/>
            <a:ext cx="12192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C71E62-F533-5AE8-444D-9535AE504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126" y="960360"/>
            <a:ext cx="8534400" cy="1507067"/>
          </a:xfrm>
        </p:spPr>
        <p:txBody>
          <a:bodyPr>
            <a:normAutofit/>
          </a:bodyPr>
          <a:lstStyle/>
          <a:p>
            <a:r>
              <a:rPr lang="en-IN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CA7A9-0D72-E29C-BAEB-8FB664FB4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709" y="2614023"/>
            <a:ext cx="10607040" cy="3615267"/>
          </a:xfrm>
        </p:spPr>
        <p:txBody>
          <a:bodyPr>
            <a:normAutofit fontScale="77500" lnSpcReduction="20000"/>
          </a:bodyPr>
          <a:lstStyle/>
          <a:p>
            <a:pPr>
              <a:buClr>
                <a:srgbClr val="FFFFFF"/>
              </a:buClr>
              <a:buFont typeface="Wingdings 3"/>
              <a:buChar char=""/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Global BMI shows a consistent upward trend over time, indicating increasing obesity risk worldwide 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  <a:buFont typeface="Wingdings 3"/>
            </a:pP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Americas and Western Pacific regions have the highest average BMI, highlighting regional disparities </a:t>
            </a:r>
          </a:p>
          <a:p>
            <a:pPr>
              <a:buClr>
                <a:srgbClr val="FFFFFF"/>
              </a:buClr>
              <a:buFont typeface="Wingdings 3"/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K-Means clustering successfully identified three meaningful BMI risk groups (Low, Medium, High) 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  <a:buFont typeface="Wingdings 3"/>
            </a:pP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Isolation Forest detected ~335 anomalies, with Africa showing the highest variability in BMI patterns </a:t>
            </a:r>
          </a:p>
          <a:p>
            <a:pPr>
              <a:buClr>
                <a:srgbClr val="FFFFFF"/>
              </a:buClr>
              <a:buFont typeface="Wingdings 3"/>
            </a:pP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Supervised models (Logistic Regression &amp; Random Forest) confirmed BMI as a strong predictor of overweight classification </a:t>
            </a:r>
            <a:endParaRPr lang="en-US"/>
          </a:p>
          <a:p>
            <a:pPr>
              <a:buClr>
                <a:srgbClr val="FFFFFF"/>
              </a:buClr>
              <a:buFont typeface="Wingdings 3"/>
            </a:pP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Random Forest outperformed Logistic Regression, achieving higher accuracy and better predictive performance </a:t>
            </a:r>
            <a:endParaRPr lang="en-US"/>
          </a:p>
          <a:p>
            <a:pPr>
              <a:buClr>
                <a:srgbClr val="FFFFFF"/>
              </a:buClr>
              <a:buFont typeface="Wingdings 3"/>
            </a:pP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Forecasting models (Prophet and ARIMA) predict a continued rise in global BMI in future years </a:t>
            </a:r>
            <a:endParaRPr lang="en-US"/>
          </a:p>
          <a:p>
            <a:pPr>
              <a:buClr>
                <a:srgbClr val="FFFFFF"/>
              </a:buClr>
              <a:buFont typeface="Wingdings 3"/>
            </a:pP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Consistency across clustering, classification, and forecasting models strengthens the reliability of results</a:t>
            </a:r>
            <a:endParaRPr lang="en-US"/>
          </a:p>
          <a:p>
            <a:pPr marL="228600" indent="0">
              <a:buNone/>
            </a:pPr>
            <a:endParaRPr lang="en-US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71205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F4E830A-06F9-4EAA-9E65-110CF2421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B93A222D-D611-0373-7F5C-EE61CDCF4F8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/>
          <a:stretch>
            <a:fillRect/>
          </a:stretch>
        </p:blipFill>
        <p:spPr>
          <a:xfrm>
            <a:off x="3174" y="10"/>
            <a:ext cx="12192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E6B19B-714A-C0C3-8D07-8D7B7548C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755" y="198361"/>
            <a:ext cx="8534400" cy="1507067"/>
          </a:xfrm>
        </p:spPr>
        <p:txBody>
          <a:bodyPr>
            <a:normAutofit/>
          </a:bodyPr>
          <a:lstStyle/>
          <a:p>
            <a:r>
              <a:rPr lang="en-IN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BEED4-0E03-9794-208F-0D020D3C0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726" y="1621971"/>
            <a:ext cx="8534400" cy="361526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1400">
                <a:solidFill>
                  <a:schemeClr val="tx1"/>
                </a:solidFill>
                <a:ea typeface="+mn-lt"/>
                <a:cs typeface="+mn-lt"/>
              </a:rPr>
              <a:t>This project demonstrates how a combination of machine learning and forecasting techniques can effectively analyze and predict global BMI trends.</a:t>
            </a:r>
          </a:p>
          <a:p>
            <a:pPr>
              <a:lnSpc>
                <a:spcPct val="90000"/>
              </a:lnSpc>
              <a:buClr>
                <a:srgbClr val="FFFFFF"/>
              </a:buClr>
              <a:buFont typeface="Wingdings 3"/>
              <a:buChar char=""/>
            </a:pPr>
            <a:r>
              <a:rPr lang="en-US" sz="1400">
                <a:solidFill>
                  <a:schemeClr val="tx1"/>
                </a:solidFill>
                <a:ea typeface="+mn-lt"/>
                <a:cs typeface="+mn-lt"/>
              </a:rPr>
              <a:t>Unsupervised methods (K-Means and Isolation Forest) revealed hidden patterns, risk groups, and anomalies in BMI data </a:t>
            </a:r>
            <a:endParaRPr lang="en-US" sz="140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Clr>
                <a:srgbClr val="FFFFFF"/>
              </a:buClr>
              <a:buFont typeface="Wingdings 3"/>
            </a:pPr>
            <a:r>
              <a:rPr lang="en-US" sz="1400">
                <a:solidFill>
                  <a:schemeClr val="tx1"/>
                </a:solidFill>
                <a:ea typeface="+mn-lt"/>
                <a:cs typeface="+mn-lt"/>
              </a:rPr>
              <a:t>Trend analysis confirmed a steady global increase in BMI over time </a:t>
            </a:r>
            <a:endParaRPr lang="en-US" sz="140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Clr>
                <a:srgbClr val="FFFFFF"/>
              </a:buClr>
              <a:buFont typeface="Wingdings 3"/>
            </a:pPr>
            <a:r>
              <a:rPr lang="en-US" sz="1400">
                <a:solidFill>
                  <a:schemeClr val="tx1"/>
                </a:solidFill>
                <a:ea typeface="+mn-lt"/>
                <a:cs typeface="+mn-lt"/>
              </a:rPr>
              <a:t>Supervised models (Logistic Regression and Random Forest) validated BMI as a strong predictor of overweight classification, with Random Forest achieving the highest performance </a:t>
            </a:r>
            <a:endParaRPr lang="en-US" sz="140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Clr>
                <a:srgbClr val="FFFFFF"/>
              </a:buClr>
              <a:buFont typeface="Wingdings 3"/>
            </a:pPr>
            <a:r>
              <a:rPr lang="en-US" sz="1400">
                <a:solidFill>
                  <a:schemeClr val="tx1"/>
                </a:solidFill>
                <a:ea typeface="+mn-lt"/>
                <a:cs typeface="+mn-lt"/>
              </a:rPr>
              <a:t>Forecasting models (Prophet and ARIMA) projected a continued rise in BMI, highlighting future global health risks </a:t>
            </a:r>
          </a:p>
          <a:p>
            <a:pPr indent="0">
              <a:lnSpc>
                <a:spcPct val="90000"/>
              </a:lnSpc>
              <a:buNone/>
            </a:pPr>
            <a:r>
              <a:rPr lang="en-US" sz="1400">
                <a:solidFill>
                  <a:schemeClr val="tx1"/>
                </a:solidFill>
                <a:ea typeface="+mn-lt"/>
                <a:cs typeface="+mn-lt"/>
              </a:rPr>
              <a:t>Overall, the integration of unsupervised learning, supervised learning, and time-series forecasting provides a comprehensive and reliable framework for understanding and predicting obesity trends. These insights can support data-driven decision-making in public health planning and policy development.</a:t>
            </a:r>
          </a:p>
          <a:p>
            <a:pPr marL="228600" indent="0">
              <a:lnSpc>
                <a:spcPct val="90000"/>
              </a:lnSpc>
              <a:buNone/>
            </a:pPr>
            <a:endParaRPr lang="en-US" sz="14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533610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FD48FB1-66D8-4676-B0AA-C139A1DB7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033F5AE-6728-4F19-8DED-658E674B3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2C7D74A-18BA-4709-A808-44E8815C4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5164A3F-1561-4039-8185-AB0EEB713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A35DB53-42BE-460E-9CA1-1294C98463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A675F33-98AF-4B83-A3BB-0780A23145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erial view of a highway near the ocean">
            <a:extLst>
              <a:ext uri="{FF2B5EF4-FFF2-40B4-BE49-F238E27FC236}">
                <a16:creationId xmlns:a16="http://schemas.microsoft.com/office/drawing/2014/main" id="{80B137ED-B49E-B758-1A6B-57C98AE3324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7719" r="-2" b="17231"/>
          <a:stretch>
            <a:fillRect/>
          </a:stretch>
        </p:blipFill>
        <p:spPr>
          <a:xfrm>
            <a:off x="-3175" y="10"/>
            <a:ext cx="12192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4D552F-D3BE-6A16-DB9F-4BC02D9BA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0555" y="1545770"/>
            <a:ext cx="8001000" cy="29718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46451772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Luminous</Template>
  <TotalTime>57</TotalTime>
  <Words>601</Words>
  <Application>Microsoft Office PowerPoint</Application>
  <PresentationFormat>Widescreen</PresentationFormat>
  <Paragraphs>116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Slice</vt:lpstr>
      <vt:lpstr>Global BMI Trends in Adults.  (1990–2024)  </vt:lpstr>
      <vt:lpstr>Table of Contents </vt:lpstr>
      <vt:lpstr>Project Objective</vt:lpstr>
      <vt:lpstr>Data description</vt:lpstr>
      <vt:lpstr>Data cleaning &amp; Preparation</vt:lpstr>
      <vt:lpstr>Exploratory data analysis </vt:lpstr>
      <vt:lpstr>Proposed Analysis Method</vt:lpstr>
      <vt:lpstr>Machine Learning Modelling </vt:lpstr>
      <vt:lpstr>Logistic Regression and Random Forest </vt:lpstr>
      <vt:lpstr>Future predition Model</vt:lpstr>
      <vt:lpstr>Deployment</vt:lpstr>
      <vt:lpstr>PowerPoint Presentation</vt:lpstr>
      <vt:lpstr>Key Insights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SHALINI SIRDHALA</dc:creator>
  <cp:lastModifiedBy>SHALINI SIRDHALA</cp:lastModifiedBy>
  <cp:revision>198</cp:revision>
  <dcterms:created xsi:type="dcterms:W3CDTF">2026-03-11T00:28:51Z</dcterms:created>
  <dcterms:modified xsi:type="dcterms:W3CDTF">2026-04-05T19:24:10Z</dcterms:modified>
</cp:coreProperties>
</file>